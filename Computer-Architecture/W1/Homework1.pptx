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7"/>
  </p:notesMasterIdLst>
  <p:sldIdLst>
    <p:sldId id="289" r:id="rId2"/>
    <p:sldId id="341" r:id="rId3"/>
    <p:sldId id="344" r:id="rId4"/>
    <p:sldId id="345" r:id="rId5"/>
    <p:sldId id="346" r:id="rId6"/>
  </p:sldIdLst>
  <p:sldSz cx="9144000" cy="5143500" type="screen16x9"/>
  <p:notesSz cx="6858000" cy="9144000"/>
  <p:embeddedFontLst>
    <p:embeddedFont>
      <p:font typeface="Abadi Extra Light" panose="020B0204020104020204" pitchFamily="34" charset="0"/>
      <p:regular r:id="rId8"/>
    </p:embeddedFon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Figtree Black" panose="020B0604020202020204" charset="0"/>
      <p:bold r:id="rId13"/>
      <p:boldItalic r:id="rId14"/>
    </p:embeddedFont>
    <p:embeddedFont>
      <p:font typeface="Hanken Grotesk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4C7592-D305-44BB-90C8-F4C2E07CEB7A}">
  <a:tblStyle styleId="{DB4C7592-D305-44BB-90C8-F4C2E07CEB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762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customXml" Target="../customXml/item1.xml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273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8" r:id="rId2"/>
    <p:sldLayoutId id="2147483675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/>
          </p:cNvSpPr>
          <p:nvPr/>
        </p:nvSpPr>
        <p:spPr>
          <a:xfrm>
            <a:off x="1623300" y="1524816"/>
            <a:ext cx="5897400" cy="1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en-US" sz="4000" dirty="0"/>
              <a:t>Homework 1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A4033CD5-1ED5-FC83-0877-9C425BE00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62" y="171898"/>
            <a:ext cx="2653348" cy="75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31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9E11D853-6B41-D1B6-435E-AD60EAA3E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62" y="171898"/>
            <a:ext cx="2653348" cy="75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EB0FC2-6EBF-EB49-AEDD-6DDCDF56EAB4}"/>
              </a:ext>
            </a:extLst>
          </p:cNvPr>
          <p:cNvSpPr txBox="1"/>
          <p:nvPr/>
        </p:nvSpPr>
        <p:spPr>
          <a:xfrm>
            <a:off x="886230" y="791337"/>
            <a:ext cx="7371540" cy="76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chemeClr val="dk1"/>
                </a:solidFill>
                <a:latin typeface="Abadi Extra Light" panose="020B0204020104020204" pitchFamily="34" charset="0"/>
                <a:cs typeface="Times New Roman" panose="02020603050405020304" pitchFamily="18" charset="0"/>
                <a:sym typeface="Figtree Black"/>
              </a:rPr>
              <a:t>1. Add three 8-bit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817C2-8757-6B0E-2F73-8CC878F9CE2F}"/>
              </a:ext>
            </a:extLst>
          </p:cNvPr>
          <p:cNvSpPr txBox="1"/>
          <p:nvPr/>
        </p:nvSpPr>
        <p:spPr>
          <a:xfrm>
            <a:off x="1088136" y="1730991"/>
            <a:ext cx="3793247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0" i="0" u="none" strike="noStrike" baseline="0" dirty="0">
                <a:latin typeface="Cambria" panose="02040503050406030204" pitchFamily="18" charset="0"/>
              </a:rPr>
              <a:t>Statement: Add the contents of three memory locations 4000H, 4001H, and data in memory location 4002H</a:t>
            </a:r>
            <a:r>
              <a:rPr lang="en-US" dirty="0">
                <a:latin typeface="Cambria" panose="020405030504060302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</a:rPr>
              <a:t>Store result in location 4005H (low byte) and 4006H (high byte).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C69CEB-DCFC-82DE-6AFE-71DA7DCA4FA4}"/>
              </a:ext>
            </a:extLst>
          </p:cNvPr>
          <p:cNvSpPr txBox="1"/>
          <p:nvPr/>
        </p:nvSpPr>
        <p:spPr>
          <a:xfrm>
            <a:off x="5092796" y="1668820"/>
            <a:ext cx="3164974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Example problem</a:t>
            </a:r>
            <a:endParaRPr lang="en-US" i="0" u="none" strike="noStrike" dirty="0">
              <a:solidFill>
                <a:schemeClr val="tx1"/>
              </a:solidFill>
              <a:effectLst/>
              <a:latin typeface="Cambria" panose="02040503050406030204" pitchFamily="18" charset="0"/>
            </a:endParaRP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4000H = 80H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4001H = 7AH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4002H = 0FH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Result 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4005H = 09H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4006H = 01H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388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68727-A5B2-A0F0-2741-FA6AED75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5962CED7-73C7-FDEE-FED9-D3C06758D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62" y="171898"/>
            <a:ext cx="2653348" cy="75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F59FEC-973C-A784-72FA-5FC0D2D2F7C4}"/>
              </a:ext>
            </a:extLst>
          </p:cNvPr>
          <p:cNvSpPr txBox="1"/>
          <p:nvPr/>
        </p:nvSpPr>
        <p:spPr>
          <a:xfrm>
            <a:off x="886230" y="791337"/>
            <a:ext cx="73715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chemeClr val="dk1"/>
                </a:solidFill>
                <a:latin typeface="Abadi Extra Light" panose="020B0204020104020204" pitchFamily="34" charset="0"/>
                <a:cs typeface="Times New Roman" panose="02020603050405020304" pitchFamily="18" charset="0"/>
                <a:sym typeface="Figtree Black"/>
              </a:rPr>
              <a:t>2. Add two 8-bit number and subtract one 8-bit number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ADED4D-CF69-095E-314A-83812DF8A5A4}"/>
              </a:ext>
            </a:extLst>
          </p:cNvPr>
          <p:cNvSpPr txBox="1"/>
          <p:nvPr/>
        </p:nvSpPr>
        <p:spPr>
          <a:xfrm>
            <a:off x="1092890" y="1825453"/>
            <a:ext cx="3793247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0" i="0" u="none" strike="noStrike" baseline="0" dirty="0">
                <a:latin typeface="Cambria" panose="02040503050406030204" pitchFamily="18" charset="0"/>
              </a:rPr>
              <a:t>Statement: Add the contents of three memory locations 4000H, 4001H, and </a:t>
            </a:r>
            <a:r>
              <a:rPr lang="en-US" b="1" dirty="0">
                <a:solidFill>
                  <a:schemeClr val="dk1"/>
                </a:solidFill>
                <a:latin typeface="Abadi Extra Light" panose="020B0204020104020204" pitchFamily="34" charset="0"/>
                <a:cs typeface="Times New Roman" panose="02020603050405020304" pitchFamily="18" charset="0"/>
                <a:sym typeface="Figtree Black"/>
              </a:rPr>
              <a:t>subtract</a:t>
            </a:r>
            <a:r>
              <a:rPr lang="en-US" b="0" i="0" u="none" strike="noStrike" baseline="0" dirty="0">
                <a:latin typeface="Cambria" panose="02040503050406030204" pitchFamily="18" charset="0"/>
              </a:rPr>
              <a:t> data in memory location 4002H</a:t>
            </a:r>
            <a:r>
              <a:rPr lang="en-US" dirty="0">
                <a:latin typeface="Cambria" panose="020405030504060302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</a:rPr>
              <a:t>Store result in location 4005H (low byte) and 4006H (high byte).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2148E6-9E0D-B723-F1F1-E835B6225180}"/>
              </a:ext>
            </a:extLst>
          </p:cNvPr>
          <p:cNvSpPr txBox="1"/>
          <p:nvPr/>
        </p:nvSpPr>
        <p:spPr>
          <a:xfrm>
            <a:off x="5092796" y="1868555"/>
            <a:ext cx="3164974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Example problem</a:t>
            </a:r>
            <a:endParaRPr lang="en-US" i="0" u="none" strike="noStrike" dirty="0">
              <a:solidFill>
                <a:schemeClr val="tx1"/>
              </a:solidFill>
              <a:effectLst/>
              <a:latin typeface="Cambria" panose="02040503050406030204" pitchFamily="18" charset="0"/>
            </a:endParaRP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4000H = F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A</a:t>
            </a: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4001H = DAH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4002H = 0FH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Result 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4005H = C5H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4006H = 01H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91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E112D-E7E1-A4FB-19C7-16E5A7D7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F5B03AD9-677D-D313-2B0E-388A9C7F4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62" y="171898"/>
            <a:ext cx="2653348" cy="75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9B41C6-C388-9531-D647-B42AE090F28A}"/>
              </a:ext>
            </a:extLst>
          </p:cNvPr>
          <p:cNvSpPr txBox="1"/>
          <p:nvPr/>
        </p:nvSpPr>
        <p:spPr>
          <a:xfrm>
            <a:off x="886230" y="791337"/>
            <a:ext cx="73715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chemeClr val="dk1"/>
                </a:solidFill>
                <a:latin typeface="Abadi Extra Light" panose="020B0204020104020204" pitchFamily="34" charset="0"/>
                <a:cs typeface="Times New Roman" panose="02020603050405020304" pitchFamily="18" charset="0"/>
                <a:sym typeface="Figtree Black"/>
              </a:rPr>
              <a:t>3. Add three 16-bit number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5D3E3-1CC0-AB37-0AA3-2822542117F2}"/>
              </a:ext>
            </a:extLst>
          </p:cNvPr>
          <p:cNvSpPr txBox="1"/>
          <p:nvPr/>
        </p:nvSpPr>
        <p:spPr>
          <a:xfrm>
            <a:off x="778753" y="1544888"/>
            <a:ext cx="3793247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</a:rPr>
              <a:t>Statement: Add the 16-bit number in memory locations 4000H and 4001H to the 16-bit number in memory locations 4002H and 4003H and 16-bit number in memory location 4004H and 4005H.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</a:rPr>
              <a:t>Store result in location 4008H (low byte) and 4009H (high byte).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663090-BCAF-7429-ED81-B4F418C0F6AD}"/>
              </a:ext>
            </a:extLst>
          </p:cNvPr>
          <p:cNvSpPr txBox="1"/>
          <p:nvPr/>
        </p:nvSpPr>
        <p:spPr>
          <a:xfrm>
            <a:off x="4886541" y="1476669"/>
            <a:ext cx="3164974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Example problem</a:t>
            </a:r>
            <a:endParaRPr lang="en-US" i="0" u="none" strike="noStrike" dirty="0">
              <a:solidFill>
                <a:schemeClr val="tx1"/>
              </a:solidFill>
              <a:effectLst/>
              <a:latin typeface="Cambria" panose="02040503050406030204" pitchFamily="18" charset="0"/>
            </a:endParaRP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4000H = 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55</a:t>
            </a: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4001H = 12H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4002H = 33H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4003H = 22H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4005H = 44H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4006H = 11H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Result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4008H = CCH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4009H = 45H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572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37B1D-4C14-7F06-6AFF-D546343CC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97004A71-CF6B-36AC-9721-D8E4253C1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62" y="171898"/>
            <a:ext cx="2653348" cy="75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5619F2-6989-6E9A-0AB3-D24F9F0E4A6D}"/>
              </a:ext>
            </a:extLst>
          </p:cNvPr>
          <p:cNvSpPr txBox="1"/>
          <p:nvPr/>
        </p:nvSpPr>
        <p:spPr>
          <a:xfrm>
            <a:off x="886230" y="681334"/>
            <a:ext cx="73715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chemeClr val="dk1"/>
                </a:solidFill>
                <a:latin typeface="Abadi Extra Light" panose="020B0204020104020204" pitchFamily="34" charset="0"/>
                <a:cs typeface="Times New Roman" panose="02020603050405020304" pitchFamily="18" charset="0"/>
                <a:sym typeface="Figtree Black"/>
              </a:rPr>
              <a:t>4. Add two 16-bit number and subtract one 16-bit number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B90E2-E844-1015-E781-4EFD31C5AE4A}"/>
              </a:ext>
            </a:extLst>
          </p:cNvPr>
          <p:cNvSpPr txBox="1"/>
          <p:nvPr/>
        </p:nvSpPr>
        <p:spPr>
          <a:xfrm>
            <a:off x="886230" y="1758552"/>
            <a:ext cx="3793247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</a:rPr>
              <a:t>Statement: Add the 16-bit number in memory locations 4000H and 4001H to the 16-bit number in memory locations 4002H and 4003H and subtract 16-bit number in memory location 4004H and 4005H.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</a:rPr>
              <a:t>Store result in location 4008H (low byte) and 4009H (high byte).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4A3008-3FBF-63A2-F898-64DC56DD401A}"/>
              </a:ext>
            </a:extLst>
          </p:cNvPr>
          <p:cNvSpPr txBox="1"/>
          <p:nvPr/>
        </p:nvSpPr>
        <p:spPr>
          <a:xfrm>
            <a:off x="4941743" y="1689800"/>
            <a:ext cx="3164974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Example problem</a:t>
            </a:r>
            <a:endParaRPr lang="en-US" i="0" u="none" strike="noStrike" dirty="0">
              <a:solidFill>
                <a:schemeClr val="tx1"/>
              </a:solidFill>
              <a:effectLst/>
              <a:latin typeface="Cambria" panose="02040503050406030204" pitchFamily="18" charset="0"/>
            </a:endParaRP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4000H = 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55</a:t>
            </a: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4001H = 12H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4002H = 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77</a:t>
            </a: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4003H = 55H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4005H = ACH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4006H = 45H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Result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4008H = 20H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4009H = 22H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584779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FCD3DBB8E51448A47CD924EED51C5C" ma:contentTypeVersion="4" ma:contentTypeDescription="Create a new document." ma:contentTypeScope="" ma:versionID="1057e678b922931c44ef15e1577fc5ac">
  <xsd:schema xmlns:xsd="http://www.w3.org/2001/XMLSchema" xmlns:xs="http://www.w3.org/2001/XMLSchema" xmlns:p="http://schemas.microsoft.com/office/2006/metadata/properties" xmlns:ns2="843a654d-0d01-42ca-8401-f048cd1c97a6" targetNamespace="http://schemas.microsoft.com/office/2006/metadata/properties" ma:root="true" ma:fieldsID="89b3b75c9da4e3a4b8228264bed043a1" ns2:_="">
    <xsd:import namespace="843a654d-0d01-42ca-8401-f048cd1c97a6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3a654d-0d01-42ca-8401-f048cd1c97a6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43a654d-0d01-42ca-8401-f048cd1c97a6" xsi:nil="true"/>
  </documentManagement>
</p:properties>
</file>

<file path=customXml/itemProps1.xml><?xml version="1.0" encoding="utf-8"?>
<ds:datastoreItem xmlns:ds="http://schemas.openxmlformats.org/officeDocument/2006/customXml" ds:itemID="{38D57606-248D-45DF-B7A2-7B5357D69FEB}"/>
</file>

<file path=customXml/itemProps2.xml><?xml version="1.0" encoding="utf-8"?>
<ds:datastoreItem xmlns:ds="http://schemas.openxmlformats.org/officeDocument/2006/customXml" ds:itemID="{E16FB7AB-A6E5-4EA6-82DB-5BBB84E94EDA}"/>
</file>

<file path=customXml/itemProps3.xml><?xml version="1.0" encoding="utf-8"?>
<ds:datastoreItem xmlns:ds="http://schemas.openxmlformats.org/officeDocument/2006/customXml" ds:itemID="{45326727-3BE4-497C-ACF4-0E4DE1FA55F4}"/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292</Words>
  <Application>Microsoft Office PowerPoint</Application>
  <PresentationFormat>On-screen Show (16:9)</PresentationFormat>
  <Paragraphs>47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Cambria</vt:lpstr>
      <vt:lpstr>Wingdings</vt:lpstr>
      <vt:lpstr>Arial</vt:lpstr>
      <vt:lpstr>Abadi Extra Light</vt:lpstr>
      <vt:lpstr>Hanken Grotesk</vt:lpstr>
      <vt:lpstr>Figtree Black</vt:lpstr>
      <vt:lpstr>Elegant Black &amp; White Thesis Defense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Yann Kimhuoy</dc:creator>
  <cp:lastModifiedBy>Kimhuoy Yann</cp:lastModifiedBy>
  <cp:revision>21</cp:revision>
  <dcterms:modified xsi:type="dcterms:W3CDTF">2025-10-08T10:49:43Z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0x01010065FCD3DBB8E51448A47CD924EED51C5C</vt:lpwstr>
  </property>
</Properties>
</file>